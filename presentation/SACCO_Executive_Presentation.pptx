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PAR30 %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386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Individual</c:v>
                  </c:pt>
                  <c:pt idx="1">
                    <c:v>Learning Inst.</c:v>
                  </c:pt>
                  <c:pt idx="2">
                    <c:v>SME</c:v>
                  </c:pt>
                  <c:pt idx="3">
                    <c:v>Religious Inst.</c:v>
                  </c:pt>
                  <c:pt idx="4">
                    <c:v>Corporate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0.07</c:v>
                </c:pt>
                <c:pt idx="1">
                  <c:v>0</c:v>
                </c:pt>
                <c:pt idx="2">
                  <c:v>0.184</c:v>
                </c:pt>
                <c:pt idx="3">
                  <c:v>0.546</c:v>
                </c:pt>
                <c:pt idx="4">
                  <c:v>0.757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1F386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Ksh per contact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386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Guarantor Contact</c:v>
                  </c:pt>
                  <c:pt idx="1">
                    <c:v>Phone Call</c:v>
                  </c:pt>
                  <c:pt idx="2">
                    <c:v>SMS</c:v>
                  </c:pt>
                  <c:pt idx="3">
                    <c:v>In-Person Visit</c:v>
                  </c:pt>
                  <c:pt idx="4">
                    <c:v>Restructuring Offer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2545</c:v>
                </c:pt>
                <c:pt idx="1">
                  <c:v>2407</c:v>
                </c:pt>
                <c:pt idx="2">
                  <c:v>2469</c:v>
                </c:pt>
                <c:pt idx="3">
                  <c:v>1176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386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341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naming the project and the org it's framed around, then immediately state the credibility rule before anyone can misread it: this is a synthetic demonstration build, not access to United Winners' real data. Say: 'I researched a relevant SACCO-sector problem and built a working analytics demonstration using synthetic data to show how this approach could be applied to a SACCO such as United Winners.' Then briefly frame yourself: HR analytics background, now building toward broader Data/BI/Credit/Collections analyst roles, and this project is the newest, most technically complete piece of that portfolio.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sets up the 'why' before any numbers. Walk through the six lenses briefly -- this is also a good moment to note that different lenses map to different stakeholders in the room: Credit cares about PAR and arrears source, Finance cares about PAR as provisioning exposure, Operations/Collections cares about effectiveness and early-warning, MIS/IT cares about how the whole model is built and maintained. That framing carries through the rest of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Emphasize this is a genuine end-to-end build, not just a dashboard: a real relational schema, a synthetic data generator with automated integrity checks (qc_report.py -- orphan checks, balance reconciliation, duplicate-key checks, all passing), SQL as the validated source of truth for every metric definition, then Excel and Power BI as two different front ends on the same validated numbers -- they reconcile exactly, which is itself something I checked and can show. Mention the GitHub portfolio (github.com/josephomusitia5) holds four earlier projects in this same style.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four headline numbers, then go straight to the chart: this is where 'risk is concentrated' becomes visible rather than asserted. If a Credit or Finance manager is in the room, this is the slide to slow down on -- it's the one that maps directly to where they'd want provisioning and underwriting attention. Keep the count-vs-balance distinction explicit if asked: a portfolio can have many small delinquent loans (high rate, low PAR) or a few large ones (low rate, high PAR) -- very different implications for provisioning, liquidity and staffing.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where hands-on collections-floor experience is worth naming out loud: 'I designed these particular metrics -- recovery per contact, conversion rate, channel mix -- because I tracked almost exactly this at Calm Recoveries, doing outbound collections calls and logging outcomes in a CRM.' It's the credibility bridge between 'can build a dashboard' and 'understands what the dashboard is for.' On Restructuring Offer showing 0% conversion: flag it as a small-sample result worth re-checking with more data, not a firm conclusion -- 9 contacts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caveat OUT LOUD before anyone else has to: these are seeded/synthetic correlations, not discoveries. The correct framing, verbatim: 'If this pattern is confirmed in the organization's real data, management could consider tracking it as an early-warning signal.' Vintage risk speaks to a Credit Manager; savings behaviour speaks to a Finance or Operations Manager thinking about member-relationship signals. Both point at the same idea: monitoring should look forward, not just report backward.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hedge, every time: these are hypotheses for United Winners' management to test against their own numbers, not findings about their actual portfolio. Then close on fit: this project sits alongside four earlier GitHub projects (salary audit, recruitment audit, recruitment funnel/sourcing, e-commerce churn), plus direct floor-level collections experience -- the combination is someone who can both build the monitoring tool and understand the operational reality the numbers describe.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486400" cy="5486400"/>
          </a:xfrm>
          <a:prstGeom prst="ellipse">
            <a:avLst/>
          </a:prstGeom>
          <a:solidFill>
            <a:srgbClr val="16264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9436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94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Delinquency &amp; Collections Analytics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204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SACCO-Sector Case Study — United Winners DT SACCO, Nairobi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8FA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demonstration data — built to show how data-driven portfolio monitoring could work for a SACCO such as United Winners. Not United Winners' actual figures.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235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Joseph Omusitia
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· Excel · Power BI Analytics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Rising Delinquency Book Threatens Liquidity, Dividends and Member Trust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SACCOs run on member deposits recycled straight back out as loans — so portfolio risk isn't just an operations metric, it's existential. Most SACCOs still report delinquency after the fact; few monitor it the way a modern lender does, across six connected lenses: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DF2FC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2532888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4963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Delinquency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044952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accounts need attention, right now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23317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DF2FC"/>
          </a:solidFill>
          <a:ln/>
        </p:spPr>
      </p:sp>
      <p:sp>
        <p:nvSpPr>
          <p:cNvPr id="10" name="Shape 8"/>
          <p:cNvSpPr/>
          <p:nvPr/>
        </p:nvSpPr>
        <p:spPr>
          <a:xfrm>
            <a:off x="4498848" y="2532888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98848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24963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PAR30 / 60 / 90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498848" y="3044952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money is actually at risk, by age of arrears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23317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DF2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47888" y="2532888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47888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24963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Arrears Source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247888" y="3044952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Employer/check-off failure vs. the member's own shortfall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005072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DF2FC"/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" y="420624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16966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 Effectiveness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4718304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contact channels actually recover cash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4005072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DF2FC"/>
          </a:solidFill>
          <a:ln/>
        </p:spPr>
      </p:sp>
      <p:sp>
        <p:nvSpPr>
          <p:cNvPr id="25" name="Shape 23"/>
          <p:cNvSpPr/>
          <p:nvPr/>
        </p:nvSpPr>
        <p:spPr>
          <a:xfrm>
            <a:off x="4498848" y="420624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498848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416966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Early-Warning Signals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498848" y="4718304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Behavioural patterns that show up before default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4005072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DF2FC"/>
          </a:solidFill>
          <a:ln/>
        </p:spPr>
      </p:sp>
      <p:sp>
        <p:nvSpPr>
          <p:cNvPr id="30" name="Shape 28"/>
          <p:cNvSpPr/>
          <p:nvPr/>
        </p:nvSpPr>
        <p:spPr>
          <a:xfrm>
            <a:off x="8247888" y="420624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47888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869680" y="416966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Vintage Performance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247888" y="4718304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newer lending cohorts are riskier as they age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Winners DT SACCO — SYNTHETIC demonstration data, not actual portfolio figures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 Analytics Stack, Built and QC-Validated End to End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1F38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13232" y="18379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231343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834640"/>
            <a:ext cx="22128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13-table SQLite database · synthetic data generator · automated QC checks, all PASS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072384" y="308610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10128" y="169164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EDF2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74720" y="18379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31343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834640"/>
            <a:ext cx="22128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Business-question queries: delinquency, PAR, arrears source, recovery, vintage, savings behaviour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833872" y="308610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071616" y="169164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1F386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36208" y="18379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236208" y="231343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236208" y="2834640"/>
            <a:ext cx="22128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Query cleaning · Data Model relationships · live PivotTable-style KPI &amp; analysis sheets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595360" y="308610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833104" y="169164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EDF2F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997696" y="18379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997696" y="231343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997696" y="2834640"/>
            <a:ext cx="22128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4-page dashboard: Executive Overview, Problem Drivers, Collections Effectiveness, Management Monitoring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 in this deck is generated synthetic data — a demonstration of method, not United Winners' actual portfolio.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Winners DT SACCO — SYNTHETIC demonstration data, not actual portfolio figures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Is Concentrated, Not Evenly Spread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Loans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2801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Ksh 27.8M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20574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Outstanding Balance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2801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0574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Delinquency Rate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778240" y="12801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19.5%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8778240" y="20574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PAR30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1106424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560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PAR30 by Member Segment</a:t>
            </a:r>
            <a:endParaRPr lang="en-US" sz="13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48640" y="2880360"/>
          <a:ext cx="54864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6080760" y="2560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means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080760" y="297180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and Religious Institution borrowers carry balance-weighted risk far above the portfolio average — 75.7% and 54.6% PAR30 vs. 7.0% for Individual members.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Asset-backed products (Moto Gari, Mjengo) are the two highest-PAR products, at 29.0% and 24.3% respectively.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Count-based delinquency and balance-weighted PAR tell different stories — both are tracked separately throughout, never blended into one number.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Winners DT SACCO — SYNTHETIC demonstration data, not actual portfolio figures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Collections Recovers Ksh 1 in Every Ksh 4.5 Referred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22.4%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Rate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224528" y="12801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Ksh 2,165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224528" y="20574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per Contact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900416" y="12801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15.1%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900416" y="20574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Contact→Payment Conversion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06424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560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Arrears Start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5212080" cy="1097280"/>
          </a:xfrm>
          <a:prstGeom prst="roundRect">
            <a:avLst>
              <a:gd name="adj" fmla="val 6667"/>
            </a:avLst>
          </a:prstGeom>
          <a:solidFill>
            <a:srgbClr val="1F386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1546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76.6%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/ member-side repayment shortfall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6576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23.4%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/ check-off remittance shortfall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25196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arrears value originates with the member's own repayment, not employer under-remittance — collections effort belongs mainly on the member side.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560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per Contact by Channel</a:t>
            </a:r>
            <a:endParaRPr lang="en-US" sz="13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035040" y="2880360"/>
          <a:ext cx="53949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Winners DT SACCO — SYNTHETIC demonstration data, not actual portfolio figures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Early-Warning Signals Worth Testing on Real Data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EDF2FC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73736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Vintage Risk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7.8%</a:t>
            </a:r>
            <a:endParaRPr lang="en-US" sz="320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delinquency rate — loans disbursed Jan–Apr 2025, as they age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4612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220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delinquency rate — all other disbursement cohorts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06908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vintage-monitoring view would flag a weak cohort like this one as it ages, instead of waiting for it to show up in a single month's headline PAR.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1F3864"/>
          </a:solidFill>
          <a:ln/>
        </p:spPr>
      </p:sp>
      <p:sp>
        <p:nvSpPr>
          <p:cNvPr id="11" name="Shape 9"/>
          <p:cNvSpPr/>
          <p:nvPr/>
        </p:nvSpPr>
        <p:spPr>
          <a:xfrm>
            <a:off x="6446520" y="169164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173736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Savings Behaviour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3317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48.9%</a:t>
            </a:r>
            <a:endParaRPr lang="en-US" sz="320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members fall below their savings target in the 2 months before a loan first goes 30+ days past due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33756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18.2%</a:t>
            </a:r>
            <a:endParaRPr lang="en-US" sz="220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matched comparison group of never-delinquent members, same calendar months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416052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dip in savings contribution could be tested as a 1–2 month leading indicator, worth validating against real portfolio data before it drives any action.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Descriptive/correlational findings on synthetic, seeded data — presented as hypotheses to validate against an organization's real data, never as conclusions.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Winners DT SACCO — SYNTHETIC demonstration data, not actual portfolio figures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626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Could Mean for a SACCO Like United Winners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544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confirmed in real data: prioritize credit monitoring for Corporate/Institutional members and asset-backed products (Moto Gari, Mjengo).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4231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 rolling savings-contribution indicator as a 1–2 month early-warning signal ahead of delinquency.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2918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low-converting collections channels (e.g. Restructuring Offers) for redesign, once validated on a larger sample.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160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4-page Power BI suite into a monthly management routine — not an annual, after-the-fact report.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11064240" cy="0"/>
          </a:xfrm>
          <a:prstGeom prst="line">
            <a:avLst/>
          </a:prstGeom>
          <a:noFill/>
          <a:ln w="12700">
            <a:solidFill>
              <a:srgbClr val="3B4E7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532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Joseph Omusitia
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josephomusitia5@gmail.com  ·  0748 044 752
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linkedin.com/in/joseph-omusitia-18138a379  ·  github.com/josephomusitia5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2026-09-25T07:29:27Z</dcterms:created>
  <dcterms:modified xsi:type="dcterms:W3CDTF">2026-09-25T07:29:27Z</dcterms:modified>
</cp:coreProperties>
</file>